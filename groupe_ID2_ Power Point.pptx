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>
        <p:scale>
          <a:sx n="50" d="100"/>
          <a:sy n="50" d="100"/>
        </p:scale>
        <p:origin x="2160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972D-3582-F576-CD1C-F583B20E5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8F148-14A6-6F39-034B-243F32C48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F70D-6CA1-44F4-E947-BB153C04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6AABE-A7CA-88B7-1D4D-D92F4E6E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E40C1-501D-F80F-F491-CD91D9DB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085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9D4D-B223-B935-BC76-A05FB2C6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426B3-4636-F404-87A9-3806EA793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B1CB8-4FA3-0B86-929D-7A38DC0E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D51A4-582A-ED30-A5CF-0297763C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45F8B-66E5-B11D-BFB8-4EAEF12D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122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7724-6E6E-AB0F-EDD9-A7621565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7EDA0-20A4-3B16-BB14-44D47906B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E1838-6CE7-DA1F-814B-357BAA35A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F0D55-8613-1BDD-9BD2-F57244F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3715D-B03D-B8C0-7D6E-FFB9BA2D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7272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6FF8-57FD-EE53-7E1A-955BFCD7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1B2CD-4C12-C1A9-86D8-C82E3B7BB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D8887-32F4-FB04-3EA2-CF2AC1C7C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0B976-3C6F-443A-8041-A83FA18DD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40F49-A98B-BC37-5988-53D5F594C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3CF3E-F0B1-09C6-57B2-CA7FE6A5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686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7741-0142-1937-259E-5CF4310F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08773-BD75-6E5E-D9F7-DEDCCBB99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DACBC-4965-DF73-B633-8AD72D2DF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9A74-DD13-E9FF-165C-FD4E30729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9FB0E-079E-AB04-3EE4-B0739F8D6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9312F-E1B5-FCB0-B339-19E752F4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80012A-4D01-E3E1-9A2E-B8C7F71B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0BDA88-AA80-3F20-B01C-BA33DE01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59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84FD-D687-5EA9-AB43-55985D7C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5AC62-BAC5-CBAA-B403-549652F0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B96D8-ACA9-9EE3-00ED-43A27DF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21D86-33C2-964D-00DA-23F03798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80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F03DA-4969-8998-83A3-E6363011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C9C93-C4D7-55ED-D655-BDE1E991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22EA-3C1E-C933-D90B-EFAB55B6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60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A18B-C302-FDE3-69B9-470E8FDD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AE791-C345-5730-D3A2-442EDBF99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899CA-12C6-0845-A472-F24DA9AF3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0DF2E-237F-DBE2-4B69-790DECACE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62AD2-A486-5113-10F3-2250C2C9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76D3C-A408-6322-C339-8D0B7D16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7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5160-15C2-7C14-3B99-7C835C6A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E9DEF-5301-4BF7-341A-D43359370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7A237-07E9-682D-F59F-4F999932A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5EFE1-4F96-281D-5F71-B6119E77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49BD5-3AC5-49C2-EFFD-9FFA55AC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2B267-7CAB-1538-09FC-A686F228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18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5833-5434-AA1B-833A-10C75E02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9A758-07CD-C28A-5E75-187829F69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D4E3C-5110-ACB6-F345-C1EE7F45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24416-2FC0-01EC-87D9-E5E9680B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1A297-1619-DB6C-979C-245F51A7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18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3EE74-8CB0-21F3-B747-9373F2EB3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7A96D-7F1F-1DB6-E655-2E9B83757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A45FF-6E87-8B94-733B-C2459D3A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FA1E3-0D71-B1CF-C7C9-DBAB4288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A8D3B-FBA6-0D32-3DB7-E5FA10C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84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638AB-FF45-2475-BF71-702425C1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C1B02-4665-20BB-25BC-4FD449457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A9AFB-686C-879B-F086-51660941F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5B309-10FA-4076-9F33-CAFC3B4076C0}" type="datetimeFigureOut">
              <a:rPr lang="fr-FR" smtClean="0"/>
              <a:t>28/12/2025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3F9B0-2AB2-6E11-FF1A-6559A1853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B501D-32A9-6B33-184E-B6A7E6544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F6785-97D9-403E-977D-16B536D0424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42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C97892A-49A9-85EE-5BAA-A71B1EB46433}"/>
              </a:ext>
            </a:extLst>
          </p:cNvPr>
          <p:cNvSpPr/>
          <p:nvPr/>
        </p:nvSpPr>
        <p:spPr>
          <a:xfrm>
            <a:off x="2967037" y="423863"/>
            <a:ext cx="6257925" cy="6010275"/>
          </a:xfrm>
          <a:prstGeom prst="rect">
            <a:avLst/>
          </a:prstGeom>
          <a:blipFill dpi="0" rotWithShape="1">
            <a:blip r:embed="rId2" cstate="print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3A44B-9274-9F9C-EFB3-776BA0E0DCD7}"/>
              </a:ext>
            </a:extLst>
          </p:cNvPr>
          <p:cNvSpPr txBox="1"/>
          <p:nvPr/>
        </p:nvSpPr>
        <p:spPr>
          <a:xfrm>
            <a:off x="1594498" y="244670"/>
            <a:ext cx="90030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DEMOCRATIC AND PEOPLE’S REPUBLIC OF ALGERIA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HIGHER EDUCATION AND SCIENTIFIC RESEARCH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HOUARI BOUMEDIENE UNIVERSITY OF SCIENCE AND TECHNOLOGY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3AAAE-4F2A-4E29-09FF-F66B95A38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484" y="1376997"/>
            <a:ext cx="134302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920B699B-212A-D440-0564-03F8408532DD}"/>
              </a:ext>
            </a:extLst>
          </p:cNvPr>
          <p:cNvSpPr/>
          <p:nvPr/>
        </p:nvSpPr>
        <p:spPr>
          <a:xfrm>
            <a:off x="3271836" y="2940421"/>
            <a:ext cx="5648325" cy="2028825"/>
          </a:xfrm>
          <a:prstGeom prst="horizontalScroll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Information and Communication Technologies</a:t>
            </a:r>
            <a:endParaRPr lang="fr-FR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(TIC)</a:t>
            </a:r>
            <a:endParaRPr lang="fr-FR" sz="11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2CA0E-386F-F255-66DE-C2977C0E539A}"/>
              </a:ext>
            </a:extLst>
          </p:cNvPr>
          <p:cNvSpPr txBox="1"/>
          <p:nvPr/>
        </p:nvSpPr>
        <p:spPr>
          <a:xfrm>
            <a:off x="739834" y="4969246"/>
            <a:ext cx="3081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Names: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Ferhat Omar.</a:t>
            </a:r>
          </a:p>
          <a:p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E8344-A6B9-2C93-8BCF-6505E17BA873}"/>
              </a:ext>
            </a:extLst>
          </p:cNvPr>
          <p:cNvSpPr txBox="1"/>
          <p:nvPr/>
        </p:nvSpPr>
        <p:spPr>
          <a:xfrm>
            <a:off x="4665131" y="6176266"/>
            <a:ext cx="286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2025/2026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E7B8D9-AC21-B2A1-1862-E77D3E43D46E}"/>
              </a:ext>
            </a:extLst>
          </p:cNvPr>
          <p:cNvSpPr txBox="1"/>
          <p:nvPr/>
        </p:nvSpPr>
        <p:spPr>
          <a:xfrm>
            <a:off x="5345371" y="2754983"/>
            <a:ext cx="1501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on: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890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45CEC-F95D-9FF0-8837-AF696668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038783AC-B47D-C851-E69D-C07C6573D5DA}"/>
              </a:ext>
            </a:extLst>
          </p:cNvPr>
          <p:cNvSpPr/>
          <p:nvPr/>
        </p:nvSpPr>
        <p:spPr>
          <a:xfrm rot="19741475">
            <a:off x="2938339" y="423862"/>
            <a:ext cx="6257925" cy="6010275"/>
          </a:xfrm>
          <a:prstGeom prst="rect">
            <a:avLst/>
          </a:prstGeom>
          <a:blipFill dpi="0" rotWithShape="1">
            <a:blip r:embed="rId2" cstate="print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9A2D38-5665-D438-C0B0-0231D5294FD3}"/>
              </a:ext>
            </a:extLst>
          </p:cNvPr>
          <p:cNvGrpSpPr/>
          <p:nvPr/>
        </p:nvGrpSpPr>
        <p:grpSpPr>
          <a:xfrm>
            <a:off x="4273420" y="179788"/>
            <a:ext cx="3573625" cy="1184988"/>
            <a:chOff x="4273420" y="179788"/>
            <a:chExt cx="3573625" cy="1184988"/>
          </a:xfrm>
        </p:grpSpPr>
        <p:sp>
          <p:nvSpPr>
            <p:cNvPr id="3" name="Rectangle: Diagonal Corners Snipped 2">
              <a:extLst>
                <a:ext uri="{FF2B5EF4-FFF2-40B4-BE49-F238E27FC236}">
                  <a16:creationId xmlns:a16="http://schemas.microsoft.com/office/drawing/2014/main" id="{FFFA195F-910F-A3A4-01CB-36152B4506AC}"/>
                </a:ext>
              </a:extLst>
            </p:cNvPr>
            <p:cNvSpPr/>
            <p:nvPr/>
          </p:nvSpPr>
          <p:spPr>
            <a:xfrm>
              <a:off x="4273420" y="179788"/>
              <a:ext cx="3573625" cy="1184988"/>
            </a:xfrm>
            <a:prstGeom prst="snip2Diag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9260499-292D-CE4B-257D-55001530B08D}"/>
                </a:ext>
              </a:extLst>
            </p:cNvPr>
            <p:cNvSpPr/>
            <p:nvPr/>
          </p:nvSpPr>
          <p:spPr>
            <a:xfrm>
              <a:off x="4883020" y="214601"/>
              <a:ext cx="2425959" cy="110351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</a:t>
              </a:r>
              <a:endParaRPr lang="fr-F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E80DE-FC4B-430E-9F26-5D6E5B3BF273}"/>
              </a:ext>
            </a:extLst>
          </p:cNvPr>
          <p:cNvGrpSpPr/>
          <p:nvPr/>
        </p:nvGrpSpPr>
        <p:grpSpPr>
          <a:xfrm>
            <a:off x="354174" y="1295178"/>
            <a:ext cx="3474876" cy="606489"/>
            <a:chOff x="373224" y="965718"/>
            <a:chExt cx="2948474" cy="60648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ACD9559-90D7-60A0-FBD8-92B5A2FA45BC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Introduction</a:t>
              </a:r>
            </a:p>
          </p:txBody>
        </p:sp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EBC0EAD5-FA6C-587F-A31C-D81B729F3935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6E78FA-663B-A8E5-4CCA-43C0212FC347}"/>
              </a:ext>
            </a:extLst>
          </p:cNvPr>
          <p:cNvGrpSpPr/>
          <p:nvPr/>
        </p:nvGrpSpPr>
        <p:grpSpPr>
          <a:xfrm>
            <a:off x="354173" y="2080316"/>
            <a:ext cx="4455952" cy="606489"/>
            <a:chOff x="373224" y="965718"/>
            <a:chExt cx="2948474" cy="60648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82F3E8F-DE54-6243-B22E-E494BA2F0572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Definition of TIC</a:t>
              </a:r>
            </a:p>
          </p:txBody>
        </p: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36D658E6-8ED7-9D14-AD70-AB4D7A4245CB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9573BE-2DEB-56D3-5572-94D5499B5CA7}"/>
              </a:ext>
            </a:extLst>
          </p:cNvPr>
          <p:cNvGrpSpPr/>
          <p:nvPr/>
        </p:nvGrpSpPr>
        <p:grpSpPr>
          <a:xfrm>
            <a:off x="354173" y="2862927"/>
            <a:ext cx="4884577" cy="606489"/>
            <a:chOff x="373224" y="965718"/>
            <a:chExt cx="2948474" cy="606489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61A5243-A43E-EA5A-52CC-52C64B687E33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Importance of TIC</a:t>
              </a:r>
            </a:p>
          </p:txBody>
        </p:sp>
        <p:sp>
          <p:nvSpPr>
            <p:cNvPr id="21" name="Flowchart: Decision 20">
              <a:extLst>
                <a:ext uri="{FF2B5EF4-FFF2-40B4-BE49-F238E27FC236}">
                  <a16:creationId xmlns:a16="http://schemas.microsoft.com/office/drawing/2014/main" id="{5A686AB4-F83A-F458-7C5A-A07B45A7897C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55B66B-6193-4FEB-99C8-50D5AC1FD7E4}"/>
              </a:ext>
            </a:extLst>
          </p:cNvPr>
          <p:cNvGrpSpPr/>
          <p:nvPr/>
        </p:nvGrpSpPr>
        <p:grpSpPr>
          <a:xfrm>
            <a:off x="420848" y="3694493"/>
            <a:ext cx="5322727" cy="606489"/>
            <a:chOff x="373224" y="965718"/>
            <a:chExt cx="2948474" cy="606489"/>
          </a:xfrm>
        </p:grpSpPr>
        <p:sp>
          <p:nvSpPr>
            <p:cNvPr id="24" name="Flowchart: Decision 23">
              <a:extLst>
                <a:ext uri="{FF2B5EF4-FFF2-40B4-BE49-F238E27FC236}">
                  <a16:creationId xmlns:a16="http://schemas.microsoft.com/office/drawing/2014/main" id="{D02AEC5A-8325-BC50-73A5-DA1870EEB07D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08C5868-1302-A547-75EF-3A10EF4B8F13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Technologies Related to TIC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303E9B4-07C7-8338-F87E-E82ECBA39952}"/>
              </a:ext>
            </a:extLst>
          </p:cNvPr>
          <p:cNvGrpSpPr/>
          <p:nvPr/>
        </p:nvGrpSpPr>
        <p:grpSpPr>
          <a:xfrm>
            <a:off x="420849" y="4502958"/>
            <a:ext cx="4903626" cy="606489"/>
            <a:chOff x="373224" y="965718"/>
            <a:chExt cx="2948474" cy="606489"/>
          </a:xfrm>
        </p:grpSpPr>
        <p:sp>
          <p:nvSpPr>
            <p:cNvPr id="27" name="Flowchart: Decision 26">
              <a:extLst>
                <a:ext uri="{FF2B5EF4-FFF2-40B4-BE49-F238E27FC236}">
                  <a16:creationId xmlns:a16="http://schemas.microsoft.com/office/drawing/2014/main" id="{AE0B20C4-CCC4-07FD-1623-1F3D243B2B36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33E10F2B-E454-7507-D7AD-14E8C70E3147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TIC in Education and Work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150706-A1D8-A317-C44C-A30484C3A076}"/>
              </a:ext>
            </a:extLst>
          </p:cNvPr>
          <p:cNvGrpSpPr/>
          <p:nvPr/>
        </p:nvGrpSpPr>
        <p:grpSpPr>
          <a:xfrm>
            <a:off x="420848" y="5285569"/>
            <a:ext cx="4577751" cy="606489"/>
            <a:chOff x="373224" y="965718"/>
            <a:chExt cx="2948474" cy="606489"/>
          </a:xfrm>
        </p:grpSpPr>
        <p:sp>
          <p:nvSpPr>
            <p:cNvPr id="30" name="Flowchart: Decision 29">
              <a:extLst>
                <a:ext uri="{FF2B5EF4-FFF2-40B4-BE49-F238E27FC236}">
                  <a16:creationId xmlns:a16="http://schemas.microsoft.com/office/drawing/2014/main" id="{E6BF6E97-62F8-E1E5-E211-A6906E097176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FA3F090-BFDF-BCA5-C848-ECA3C0898DB9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6. Advantages and Challenges of TIC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01E44F-4BC4-5C1A-ACB4-EC60A88EEE5B}"/>
              </a:ext>
            </a:extLst>
          </p:cNvPr>
          <p:cNvGrpSpPr/>
          <p:nvPr/>
        </p:nvGrpSpPr>
        <p:grpSpPr>
          <a:xfrm>
            <a:off x="420849" y="6044855"/>
            <a:ext cx="3474876" cy="606489"/>
            <a:chOff x="373224" y="965718"/>
            <a:chExt cx="2948474" cy="606489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8767F50-3360-DC97-AE00-B2DFDEA3907D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7. Conclusion</a:t>
              </a:r>
              <a:endPara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Flowchart: Decision 32">
              <a:extLst>
                <a:ext uri="{FF2B5EF4-FFF2-40B4-BE49-F238E27FC236}">
                  <a16:creationId xmlns:a16="http://schemas.microsoft.com/office/drawing/2014/main" id="{12C37531-C4E1-013A-3294-37290DD58BC0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E8148D67-7CC4-D30D-E555-22B5597EB5D3}"/>
              </a:ext>
            </a:extLst>
          </p:cNvPr>
          <p:cNvSpPr/>
          <p:nvPr/>
        </p:nvSpPr>
        <p:spPr>
          <a:xfrm>
            <a:off x="10923179" y="-1035700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CAA295B-E72F-5DF5-FC7B-C1B03C33EF97}"/>
              </a:ext>
            </a:extLst>
          </p:cNvPr>
          <p:cNvSpPr/>
          <p:nvPr/>
        </p:nvSpPr>
        <p:spPr>
          <a:xfrm>
            <a:off x="9951648" y="3055181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94FCFCE-22AC-5363-13BE-8D4E19D5E263}"/>
              </a:ext>
            </a:extLst>
          </p:cNvPr>
          <p:cNvSpPr/>
          <p:nvPr/>
        </p:nvSpPr>
        <p:spPr>
          <a:xfrm>
            <a:off x="-2873718" y="-3749143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9002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A543-1560-3AC1-C252-5F329EC42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E0FEBD-CBE1-8600-61A7-F93BD6E1675F}"/>
              </a:ext>
            </a:extLst>
          </p:cNvPr>
          <p:cNvSpPr/>
          <p:nvPr/>
        </p:nvSpPr>
        <p:spPr>
          <a:xfrm>
            <a:off x="745067" y="1185333"/>
            <a:ext cx="10989733" cy="5266267"/>
          </a:xfrm>
          <a:prstGeom prst="roundRect">
            <a:avLst>
              <a:gd name="adj" fmla="val 4099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EF99D4-E52C-35C9-8F6D-FC6ED39927F3}"/>
              </a:ext>
            </a:extLst>
          </p:cNvPr>
          <p:cNvSpPr/>
          <p:nvPr/>
        </p:nvSpPr>
        <p:spPr>
          <a:xfrm>
            <a:off x="1117601" y="1549400"/>
            <a:ext cx="10143067" cy="458046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Communication Technologies (ICT)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technologies used to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information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facilitate communication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rapid development has transformed learning, work, and interaction, playing a key role in sectors such as education, healthcare, business, and daily life by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access to information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efficiency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digital services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2C60F7-815A-55E9-EFB5-248E47604C04}"/>
              </a:ext>
            </a:extLst>
          </p:cNvPr>
          <p:cNvGrpSpPr/>
          <p:nvPr/>
        </p:nvGrpSpPr>
        <p:grpSpPr>
          <a:xfrm>
            <a:off x="559447" y="257111"/>
            <a:ext cx="3474876" cy="606489"/>
            <a:chOff x="373224" y="965718"/>
            <a:chExt cx="2948474" cy="60648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29841F6-1363-732A-0483-5A6469518C87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Introduction</a:t>
              </a:r>
            </a:p>
          </p:txBody>
        </p:sp>
        <p:sp>
          <p:nvSpPr>
            <p:cNvPr id="7" name="Flowchart: Decision 6">
              <a:extLst>
                <a:ext uri="{FF2B5EF4-FFF2-40B4-BE49-F238E27FC236}">
                  <a16:creationId xmlns:a16="http://schemas.microsoft.com/office/drawing/2014/main" id="{9E148A5F-8DF1-3FE8-6FCD-DDEA8E50ADF4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80F5932-A584-C494-6078-B237D2438EFC}"/>
              </a:ext>
            </a:extLst>
          </p:cNvPr>
          <p:cNvSpPr/>
          <p:nvPr/>
        </p:nvSpPr>
        <p:spPr>
          <a:xfrm>
            <a:off x="2938339" y="423862"/>
            <a:ext cx="6257925" cy="6010275"/>
          </a:xfrm>
          <a:prstGeom prst="rect">
            <a:avLst/>
          </a:prstGeom>
          <a:blipFill dpi="0" rotWithShape="1">
            <a:blip r:embed="rId2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CC0666-7D6E-D8AF-E8BB-4013587B7659}"/>
              </a:ext>
            </a:extLst>
          </p:cNvPr>
          <p:cNvSpPr/>
          <p:nvPr/>
        </p:nvSpPr>
        <p:spPr>
          <a:xfrm rot="16987772">
            <a:off x="9968886" y="-1266435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D1A41C-ED56-0860-AFF4-16A05241A22B}"/>
              </a:ext>
            </a:extLst>
          </p:cNvPr>
          <p:cNvSpPr/>
          <p:nvPr/>
        </p:nvSpPr>
        <p:spPr>
          <a:xfrm rot="2015110">
            <a:off x="11315186" y="5260026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668AC4-D141-77F1-E74F-8BE3EC03141C}"/>
              </a:ext>
            </a:extLst>
          </p:cNvPr>
          <p:cNvSpPr/>
          <p:nvPr/>
        </p:nvSpPr>
        <p:spPr>
          <a:xfrm rot="3748756">
            <a:off x="-3476302" y="5260027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645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C10C3-CB9B-2A41-7FE4-1F2A07C06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C743BEA5-C644-B918-9FC9-F93413E2E17B}"/>
              </a:ext>
            </a:extLst>
          </p:cNvPr>
          <p:cNvSpPr/>
          <p:nvPr/>
        </p:nvSpPr>
        <p:spPr>
          <a:xfrm rot="16987772">
            <a:off x="9968886" y="-1266435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07F6D2A-6280-6AC1-E889-0B17FC4EE758}"/>
              </a:ext>
            </a:extLst>
          </p:cNvPr>
          <p:cNvSpPr/>
          <p:nvPr/>
        </p:nvSpPr>
        <p:spPr>
          <a:xfrm rot="2015110">
            <a:off x="11315186" y="5260026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2DDF6-B4F2-6414-0593-6FFD3253A406}"/>
              </a:ext>
            </a:extLst>
          </p:cNvPr>
          <p:cNvSpPr txBox="1"/>
          <p:nvPr/>
        </p:nvSpPr>
        <p:spPr>
          <a:xfrm>
            <a:off x="541867" y="1577102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Hardware</a:t>
            </a:r>
            <a:r>
              <a:rPr lang="en-US" dirty="0"/>
              <a:t>: computers, smartphones, servers, networks</a:t>
            </a:r>
            <a:endParaRPr lang="fr-FR" dirty="0"/>
          </a:p>
          <a:p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7F2ECD-79C4-E56F-8A3C-CC2E955503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84" y="2668905"/>
            <a:ext cx="1411665" cy="141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9D9ED4-790F-756A-1CD3-BE9E2F6686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11" y="2533147"/>
            <a:ext cx="729442" cy="1487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1930E6-3256-A12B-42AA-C47642EF3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5" y="4148007"/>
            <a:ext cx="2026653" cy="20266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D67FA0-D77C-E74D-4A71-A83C9F66B60A}"/>
              </a:ext>
            </a:extLst>
          </p:cNvPr>
          <p:cNvSpPr txBox="1"/>
          <p:nvPr/>
        </p:nvSpPr>
        <p:spPr>
          <a:xfrm>
            <a:off x="3107373" y="1575951"/>
            <a:ext cx="304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Software</a:t>
            </a:r>
            <a:r>
              <a:rPr lang="en-US" dirty="0"/>
              <a:t>: operating systems, applications, cloud platforms</a:t>
            </a:r>
            <a:endParaRPr lang="fr-FR" dirty="0"/>
          </a:p>
          <a:p>
            <a:endParaRPr lang="fr-F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05B50C-7D93-7312-8150-E732D1A823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980" y="2266870"/>
            <a:ext cx="1799594" cy="124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75824B-97DE-CD16-E284-5F328E4BFA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911" y="2013405"/>
            <a:ext cx="1799594" cy="1799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5F78E7-018C-A18E-105A-713DF873A52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681" y="3763446"/>
            <a:ext cx="1556689" cy="155668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5BF364C-A948-4F3B-0AC4-F49A55AD9DB7}"/>
              </a:ext>
            </a:extLst>
          </p:cNvPr>
          <p:cNvSpPr txBox="1"/>
          <p:nvPr/>
        </p:nvSpPr>
        <p:spPr>
          <a:xfrm>
            <a:off x="6284766" y="1575951"/>
            <a:ext cx="370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Communication technologies</a:t>
            </a:r>
            <a:r>
              <a:rPr lang="fr-FR" dirty="0"/>
              <a:t>: internet, email, </a:t>
            </a:r>
            <a:r>
              <a:rPr lang="fr-FR" dirty="0" err="1"/>
              <a:t>video</a:t>
            </a:r>
            <a:r>
              <a:rPr lang="fr-FR" dirty="0"/>
              <a:t> </a:t>
            </a:r>
            <a:r>
              <a:rPr lang="fr-FR" dirty="0" err="1"/>
              <a:t>conferencing</a:t>
            </a:r>
            <a:r>
              <a:rPr lang="fr-FR" dirty="0"/>
              <a:t>, social networks</a:t>
            </a:r>
          </a:p>
          <a:p>
            <a:endParaRPr lang="fr-FR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5E08AC-D1EB-A57F-007A-17A3203A73B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866" y="4161111"/>
            <a:ext cx="1043033" cy="104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EB7CB0-6BE1-2F52-2CA8-C96BF6BDAA4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058" y="2405811"/>
            <a:ext cx="1535902" cy="1090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3FF378-470C-3E35-1B3B-9FE76F3AF82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065" y="2485296"/>
            <a:ext cx="1583565" cy="158356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AD78B7-A9E6-4185-1115-02F2C9BEBA29}"/>
              </a:ext>
            </a:extLst>
          </p:cNvPr>
          <p:cNvSpPr txBox="1"/>
          <p:nvPr/>
        </p:nvSpPr>
        <p:spPr>
          <a:xfrm>
            <a:off x="9993166" y="1667147"/>
            <a:ext cx="20464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Information </a:t>
            </a:r>
            <a:r>
              <a:rPr lang="fr-FR" b="1" dirty="0" err="1"/>
              <a:t>systems</a:t>
            </a:r>
            <a:r>
              <a:rPr lang="fr-FR" dirty="0"/>
              <a:t>: </a:t>
            </a:r>
            <a:r>
              <a:rPr lang="fr-FR" dirty="0" err="1"/>
              <a:t>databases</a:t>
            </a:r>
            <a:r>
              <a:rPr lang="fr-FR" dirty="0"/>
              <a:t>, management </a:t>
            </a:r>
            <a:r>
              <a:rPr lang="fr-FR" dirty="0" err="1"/>
              <a:t>systems</a:t>
            </a:r>
            <a:endParaRPr lang="fr-FR" dirty="0"/>
          </a:p>
          <a:p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AFF743-2634-FEBE-2FCB-90292EFA59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5661" y="4293446"/>
            <a:ext cx="1403939" cy="1403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1C0A1F-5A0F-DE2D-33E4-4D61FF8EC2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960" y="2948398"/>
            <a:ext cx="1624217" cy="13450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3B66F-6BD6-6935-A692-E6B44E26815A}"/>
              </a:ext>
            </a:extLst>
          </p:cNvPr>
          <p:cNvSpPr txBox="1"/>
          <p:nvPr/>
        </p:nvSpPr>
        <p:spPr>
          <a:xfrm>
            <a:off x="2571131" y="5880819"/>
            <a:ext cx="76538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TIC is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collect, store, process, transmit, and share information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0712EA-A32C-58E5-0CDE-CE31BF82A7B2}"/>
              </a:ext>
            </a:extLst>
          </p:cNvPr>
          <p:cNvGrpSpPr/>
          <p:nvPr/>
        </p:nvGrpSpPr>
        <p:grpSpPr>
          <a:xfrm>
            <a:off x="541867" y="271325"/>
            <a:ext cx="4455952" cy="606489"/>
            <a:chOff x="373224" y="965718"/>
            <a:chExt cx="2948474" cy="60648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CBDE299-DD02-CE68-0D13-930F1D5A3F29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Definition of TIC</a:t>
              </a:r>
            </a:p>
          </p:txBody>
        </p:sp>
        <p:sp>
          <p:nvSpPr>
            <p:cNvPr id="22" name="Flowchart: Decision 21">
              <a:extLst>
                <a:ext uri="{FF2B5EF4-FFF2-40B4-BE49-F238E27FC236}">
                  <a16:creationId xmlns:a16="http://schemas.microsoft.com/office/drawing/2014/main" id="{9DDADB1D-D2F2-F728-F5FA-2B1E9BDBDF74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654357-0377-7D9C-28FC-90517B1E1942}"/>
              </a:ext>
            </a:extLst>
          </p:cNvPr>
          <p:cNvSpPr/>
          <p:nvPr/>
        </p:nvSpPr>
        <p:spPr>
          <a:xfrm>
            <a:off x="5153476" y="695136"/>
            <a:ext cx="2066058" cy="59800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TIC includes:</a:t>
            </a:r>
            <a:endParaRPr lang="fr-FR" b="1" u="sng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A37895-6EE4-B719-1512-D402D92F3EE8}"/>
              </a:ext>
            </a:extLst>
          </p:cNvPr>
          <p:cNvSpPr/>
          <p:nvPr/>
        </p:nvSpPr>
        <p:spPr>
          <a:xfrm rot="18169129">
            <a:off x="2938339" y="423862"/>
            <a:ext cx="6257925" cy="6010275"/>
          </a:xfrm>
          <a:prstGeom prst="rect">
            <a:avLst/>
          </a:prstGeom>
          <a:blipFill dpi="0" rotWithShape="1">
            <a:blip r:embed="rId13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09D73C4-A656-6248-CE2E-3EBA0AD76A57}"/>
              </a:ext>
            </a:extLst>
          </p:cNvPr>
          <p:cNvSpPr/>
          <p:nvPr/>
        </p:nvSpPr>
        <p:spPr>
          <a:xfrm rot="3748756">
            <a:off x="-3476302" y="5260027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838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6" grpId="0"/>
      <p:bldP spid="5" grpId="0"/>
      <p:bldP spid="8" grpId="0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186DC-6446-CBDA-6B5A-2FE54EA2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5C3FB6-99D4-FB80-648A-46EC698E6656}"/>
              </a:ext>
            </a:extLst>
          </p:cNvPr>
          <p:cNvSpPr/>
          <p:nvPr/>
        </p:nvSpPr>
        <p:spPr>
          <a:xfrm>
            <a:off x="709127" y="1996751"/>
            <a:ext cx="10041466" cy="39888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1CC777-127A-B74B-8402-EC7D4C560D17}"/>
              </a:ext>
            </a:extLst>
          </p:cNvPr>
          <p:cNvSpPr txBox="1"/>
          <p:nvPr/>
        </p:nvSpPr>
        <p:spPr>
          <a:xfrm>
            <a:off x="914745" y="1184297"/>
            <a:ext cx="100414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 is essential because it: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and collaboration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distance learning and e-learning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Facilitates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transformation of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innovation and access to global information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192FD0-6400-52B9-D2C2-6DCEBE138DC2}"/>
              </a:ext>
            </a:extLst>
          </p:cNvPr>
          <p:cNvGrpSpPr/>
          <p:nvPr/>
        </p:nvGrpSpPr>
        <p:grpSpPr>
          <a:xfrm>
            <a:off x="363503" y="315670"/>
            <a:ext cx="4884577" cy="606489"/>
            <a:chOff x="373224" y="965718"/>
            <a:chExt cx="2948474" cy="60648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3F60973-8DC4-F292-AC96-EB2AAE64B1A9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Importance of TIC</a:t>
              </a:r>
            </a:p>
          </p:txBody>
        </p:sp>
        <p:sp>
          <p:nvSpPr>
            <p:cNvPr id="9" name="Flowchart: Decision 8">
              <a:extLst>
                <a:ext uri="{FF2B5EF4-FFF2-40B4-BE49-F238E27FC236}">
                  <a16:creationId xmlns:a16="http://schemas.microsoft.com/office/drawing/2014/main" id="{6C4C85C7-F459-0606-1E98-4D2C175571F6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90C0EF7-4114-CA93-196C-B23E63BC2026}"/>
              </a:ext>
            </a:extLst>
          </p:cNvPr>
          <p:cNvSpPr/>
          <p:nvPr/>
        </p:nvSpPr>
        <p:spPr>
          <a:xfrm rot="17273234">
            <a:off x="2938339" y="423862"/>
            <a:ext cx="6257925" cy="6010275"/>
          </a:xfrm>
          <a:prstGeom prst="rect">
            <a:avLst/>
          </a:prstGeom>
          <a:blipFill dpi="0" rotWithShape="1">
            <a:blip r:embed="rId2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DB9FC2-73C6-E077-DF27-4E58E3B6E59B}"/>
              </a:ext>
            </a:extLst>
          </p:cNvPr>
          <p:cNvSpPr/>
          <p:nvPr/>
        </p:nvSpPr>
        <p:spPr>
          <a:xfrm rot="374965">
            <a:off x="11274003" y="1248797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2C314B-C674-10AC-1E89-A402C5C33755}"/>
              </a:ext>
            </a:extLst>
          </p:cNvPr>
          <p:cNvSpPr/>
          <p:nvPr/>
        </p:nvSpPr>
        <p:spPr>
          <a:xfrm rot="7002303">
            <a:off x="11219936" y="4174176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9E0F13-4289-F5AC-E997-BFDD6DEA7C28}"/>
              </a:ext>
            </a:extLst>
          </p:cNvPr>
          <p:cNvSpPr/>
          <p:nvPr/>
        </p:nvSpPr>
        <p:spPr>
          <a:xfrm rot="8735949">
            <a:off x="-3571552" y="4174177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2447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0B7EB-9282-4F2B-14EF-D11E6E23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9B37A73F-BBE2-D841-67F7-CF172333BB6E}"/>
              </a:ext>
            </a:extLst>
          </p:cNvPr>
          <p:cNvSpPr/>
          <p:nvPr/>
        </p:nvSpPr>
        <p:spPr>
          <a:xfrm rot="374965">
            <a:off x="9772656" y="-1256077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EA07187-F556-BF84-F9F6-CDCDB456A35D}"/>
              </a:ext>
            </a:extLst>
          </p:cNvPr>
          <p:cNvSpPr/>
          <p:nvPr/>
        </p:nvSpPr>
        <p:spPr>
          <a:xfrm rot="7002303">
            <a:off x="7890946" y="5173890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A4B1EE-2C58-E31D-E303-786CB7C3EEFF}"/>
              </a:ext>
            </a:extLst>
          </p:cNvPr>
          <p:cNvSpPr/>
          <p:nvPr/>
        </p:nvSpPr>
        <p:spPr>
          <a:xfrm rot="8735949">
            <a:off x="-3571552" y="4174177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6DA424-0D55-C77B-C845-5B6BC792FD2F}"/>
              </a:ext>
            </a:extLst>
          </p:cNvPr>
          <p:cNvGrpSpPr/>
          <p:nvPr/>
        </p:nvGrpSpPr>
        <p:grpSpPr>
          <a:xfrm>
            <a:off x="4669810" y="998376"/>
            <a:ext cx="3029893" cy="867164"/>
            <a:chOff x="4669810" y="998376"/>
            <a:chExt cx="3029893" cy="86716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0C85DBF-A884-307B-29A4-B86D628E40C1}"/>
                </a:ext>
              </a:extLst>
            </p:cNvPr>
            <p:cNvSpPr/>
            <p:nvPr/>
          </p:nvSpPr>
          <p:spPr>
            <a:xfrm>
              <a:off x="4669810" y="998376"/>
              <a:ext cx="2804010" cy="76447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B1ADB-8C1F-96F2-6B1A-70186F2430E2}"/>
                </a:ext>
              </a:extLst>
            </p:cNvPr>
            <p:cNvSpPr txBox="1"/>
            <p:nvPr/>
          </p:nvSpPr>
          <p:spPr>
            <a:xfrm>
              <a:off x="4787169" y="1126876"/>
              <a:ext cx="291253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4.1 Google Services</a:t>
              </a:r>
              <a:endParaRPr lang="fr-FR" sz="2400" b="1" dirty="0"/>
            </a:p>
            <a:p>
              <a:endParaRPr lang="fr-FR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2BFA98E-30BB-A023-13FE-E4FD89C64D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22" y="3147388"/>
            <a:ext cx="1708748" cy="1708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087D0C-30B0-AE20-F478-05953BC5D9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124" y="3355262"/>
            <a:ext cx="1441450" cy="12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B27676-678A-1CD2-4713-0153F25C62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810" y="3147388"/>
            <a:ext cx="1125177" cy="1533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4BF0CC-1825-EFFA-7ABE-C0DF739644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822" y="3234848"/>
            <a:ext cx="1621288" cy="1621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27C2B5-7CF3-9134-804B-E709905EAC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110" y="2982739"/>
            <a:ext cx="1979714" cy="1862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9C887D-961B-626B-09C9-CE8229058C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1046" y="3165520"/>
            <a:ext cx="2367801" cy="167248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8BB3A2-72B8-3862-EAB9-C27D148B2C83}"/>
              </a:ext>
            </a:extLst>
          </p:cNvPr>
          <p:cNvSpPr/>
          <p:nvPr/>
        </p:nvSpPr>
        <p:spPr>
          <a:xfrm>
            <a:off x="246522" y="2218267"/>
            <a:ext cx="1708748" cy="7644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</a:rPr>
              <a:t>Gmail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2D65EA-751A-A201-E156-1AFAE9DDDAAA}"/>
              </a:ext>
            </a:extLst>
          </p:cNvPr>
          <p:cNvSpPr/>
          <p:nvPr/>
        </p:nvSpPr>
        <p:spPr>
          <a:xfrm>
            <a:off x="2282490" y="2218265"/>
            <a:ext cx="1708748" cy="7644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Google Drive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ADFA57-8BAB-E6E0-DBE1-4D1823FEC72A}"/>
              </a:ext>
            </a:extLst>
          </p:cNvPr>
          <p:cNvSpPr/>
          <p:nvPr/>
        </p:nvSpPr>
        <p:spPr>
          <a:xfrm>
            <a:off x="4309017" y="2218265"/>
            <a:ext cx="1708748" cy="7644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Google Docs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F83B90-925C-2B94-9499-DC17826196B6}"/>
              </a:ext>
            </a:extLst>
          </p:cNvPr>
          <p:cNvSpPr/>
          <p:nvPr/>
        </p:nvSpPr>
        <p:spPr>
          <a:xfrm>
            <a:off x="6243436" y="2218265"/>
            <a:ext cx="1708748" cy="7644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Google </a:t>
            </a:r>
            <a:r>
              <a:rPr lang="fr-FR" b="1" dirty="0" err="1">
                <a:solidFill>
                  <a:schemeClr val="tx1"/>
                </a:solidFill>
              </a:rPr>
              <a:t>Meet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B4E43B-AED3-E63A-A0E9-620F6AB7A4BD}"/>
              </a:ext>
            </a:extLst>
          </p:cNvPr>
          <p:cNvSpPr/>
          <p:nvPr/>
        </p:nvSpPr>
        <p:spPr>
          <a:xfrm>
            <a:off x="8269963" y="2218265"/>
            <a:ext cx="1708748" cy="7644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Google Forms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D8E10CC-1D94-7418-0D3C-5CF44D2E08F5}"/>
              </a:ext>
            </a:extLst>
          </p:cNvPr>
          <p:cNvSpPr/>
          <p:nvPr/>
        </p:nvSpPr>
        <p:spPr>
          <a:xfrm>
            <a:off x="10190564" y="2218265"/>
            <a:ext cx="1708748" cy="7644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Google Classroom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F857E5-EC65-B677-7267-EFD3C6A58EE6}"/>
              </a:ext>
            </a:extLst>
          </p:cNvPr>
          <p:cNvSpPr txBox="1"/>
          <p:nvPr/>
        </p:nvSpPr>
        <p:spPr>
          <a:xfrm>
            <a:off x="369889" y="4965174"/>
            <a:ext cx="542509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C00000"/>
                </a:solidFill>
              </a:rPr>
              <a:t>Advantages</a:t>
            </a:r>
            <a:r>
              <a:rPr lang="fr-FR" sz="2000" u="sng" dirty="0">
                <a:solidFill>
                  <a:srgbClr val="C00000"/>
                </a:solidFill>
              </a:rPr>
              <a:t>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dirty="0"/>
              <a:t>Free or low-cost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dirty="0"/>
              <a:t>Real-time collaboration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dirty="0"/>
              <a:t>Accessible 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anywhere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internet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1F2644-B03F-45E9-EE0C-CA0D89DD23A2}"/>
              </a:ext>
            </a:extLst>
          </p:cNvPr>
          <p:cNvGrpSpPr/>
          <p:nvPr/>
        </p:nvGrpSpPr>
        <p:grpSpPr>
          <a:xfrm>
            <a:off x="472260" y="282849"/>
            <a:ext cx="5322727" cy="606489"/>
            <a:chOff x="373224" y="965718"/>
            <a:chExt cx="2948474" cy="606489"/>
          </a:xfrm>
        </p:grpSpPr>
        <p:sp>
          <p:nvSpPr>
            <p:cNvPr id="20" name="Flowchart: Decision 19">
              <a:extLst>
                <a:ext uri="{FF2B5EF4-FFF2-40B4-BE49-F238E27FC236}">
                  <a16:creationId xmlns:a16="http://schemas.microsoft.com/office/drawing/2014/main" id="{79C046A2-DC94-9672-0885-060BFF011A9A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E55B97F-9269-ACEB-EB27-20C6A9263C65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Technologies Related to TIC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9505BC5-30FA-EAFE-89EE-A890B1747E40}"/>
              </a:ext>
            </a:extLst>
          </p:cNvPr>
          <p:cNvSpPr/>
          <p:nvPr/>
        </p:nvSpPr>
        <p:spPr>
          <a:xfrm rot="14787595">
            <a:off x="2938339" y="423862"/>
            <a:ext cx="6257925" cy="6010275"/>
          </a:xfrm>
          <a:prstGeom prst="rect">
            <a:avLst/>
          </a:prstGeom>
          <a:blipFill dpi="0" rotWithShape="1">
            <a:blip r:embed="rId8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16368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42C04-BBC6-9D59-36FA-7D3C6635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9637DF-E346-CE20-F351-6BF2167693D0}"/>
              </a:ext>
            </a:extLst>
          </p:cNvPr>
          <p:cNvSpPr/>
          <p:nvPr/>
        </p:nvSpPr>
        <p:spPr>
          <a:xfrm>
            <a:off x="246522" y="1811869"/>
            <a:ext cx="1527303" cy="77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Microsoft Word</a:t>
            </a:r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BD5A38-A845-908E-2419-374B73B0E6E9}"/>
              </a:ext>
            </a:extLst>
          </p:cNvPr>
          <p:cNvSpPr/>
          <p:nvPr/>
        </p:nvSpPr>
        <p:spPr>
          <a:xfrm>
            <a:off x="1926892" y="1811867"/>
            <a:ext cx="1527303" cy="77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Microsoft Excel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BA9CAE-78B2-3B3A-0FE0-2C6E3665F795}"/>
              </a:ext>
            </a:extLst>
          </p:cNvPr>
          <p:cNvSpPr/>
          <p:nvPr/>
        </p:nvSpPr>
        <p:spPr>
          <a:xfrm>
            <a:off x="3631686" y="1811867"/>
            <a:ext cx="1527303" cy="77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Microsoft PowerPoint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1391BA-3A22-ECD9-8E28-087B3DBE9325}"/>
              </a:ext>
            </a:extLst>
          </p:cNvPr>
          <p:cNvSpPr/>
          <p:nvPr/>
        </p:nvSpPr>
        <p:spPr>
          <a:xfrm>
            <a:off x="5312107" y="1811867"/>
            <a:ext cx="1527303" cy="77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Microsoft Outlook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C75AA89-6C13-3F5D-B990-CCED6D80EE24}"/>
              </a:ext>
            </a:extLst>
          </p:cNvPr>
          <p:cNvSpPr/>
          <p:nvPr/>
        </p:nvSpPr>
        <p:spPr>
          <a:xfrm>
            <a:off x="7016894" y="1811867"/>
            <a:ext cx="1527303" cy="77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Microsoft Teams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51F640-2CC2-4F5E-E970-C346D55CAA32}"/>
              </a:ext>
            </a:extLst>
          </p:cNvPr>
          <p:cNvSpPr/>
          <p:nvPr/>
        </p:nvSpPr>
        <p:spPr>
          <a:xfrm>
            <a:off x="8751235" y="1811867"/>
            <a:ext cx="1527303" cy="77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OneDrive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68AB5C-8408-E0C9-F974-F9FDFF230254}"/>
              </a:ext>
            </a:extLst>
          </p:cNvPr>
          <p:cNvSpPr txBox="1"/>
          <p:nvPr/>
        </p:nvSpPr>
        <p:spPr>
          <a:xfrm>
            <a:off x="369889" y="4965174"/>
            <a:ext cx="542509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 err="1">
                <a:solidFill>
                  <a:srgbClr val="C00000"/>
                </a:solidFill>
              </a:rPr>
              <a:t>Advantages</a:t>
            </a:r>
            <a:r>
              <a:rPr lang="fr-FR" sz="2000" u="sng" dirty="0">
                <a:solidFill>
                  <a:srgbClr val="C00000"/>
                </a:solidFill>
              </a:rPr>
              <a:t>: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standard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companies and institutions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E7360B-F1E5-E9E3-315D-416B9938CF76}"/>
              </a:ext>
            </a:extLst>
          </p:cNvPr>
          <p:cNvSpPr/>
          <p:nvPr/>
        </p:nvSpPr>
        <p:spPr>
          <a:xfrm>
            <a:off x="10447869" y="1811867"/>
            <a:ext cx="1527303" cy="77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Windows OS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F23DCE-F550-0C45-3448-CF9A73229B63}"/>
              </a:ext>
            </a:extLst>
          </p:cNvPr>
          <p:cNvSpPr/>
          <p:nvPr/>
        </p:nvSpPr>
        <p:spPr>
          <a:xfrm>
            <a:off x="246522" y="2700867"/>
            <a:ext cx="1527303" cy="12446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Document </a:t>
            </a:r>
            <a:r>
              <a:rPr lang="fr-FR" sz="1600" b="1" dirty="0" err="1">
                <a:solidFill>
                  <a:schemeClr val="tx1"/>
                </a:solidFill>
              </a:rPr>
              <a:t>creation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A51AAB-4575-AA53-DA6A-60FC30F3DB7C}"/>
              </a:ext>
            </a:extLst>
          </p:cNvPr>
          <p:cNvSpPr/>
          <p:nvPr/>
        </p:nvSpPr>
        <p:spPr>
          <a:xfrm>
            <a:off x="1926892" y="2700865"/>
            <a:ext cx="1527303" cy="12446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data analysis and spreadsheets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B8F748-0B9E-7418-B8AA-7254379DF895}"/>
              </a:ext>
            </a:extLst>
          </p:cNvPr>
          <p:cNvSpPr/>
          <p:nvPr/>
        </p:nvSpPr>
        <p:spPr>
          <a:xfrm>
            <a:off x="3631686" y="2700865"/>
            <a:ext cx="1527303" cy="12446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err="1">
                <a:solidFill>
                  <a:schemeClr val="tx1"/>
                </a:solidFill>
              </a:rPr>
              <a:t>Presentati-ons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784F693-C158-E749-0DC2-EE51A11EB074}"/>
              </a:ext>
            </a:extLst>
          </p:cNvPr>
          <p:cNvSpPr/>
          <p:nvPr/>
        </p:nvSpPr>
        <p:spPr>
          <a:xfrm>
            <a:off x="5312107" y="2700865"/>
            <a:ext cx="1527303" cy="12446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Email and </a:t>
            </a:r>
            <a:r>
              <a:rPr lang="fr-FR" b="1" dirty="0" err="1">
                <a:solidFill>
                  <a:schemeClr val="tx1"/>
                </a:solidFill>
              </a:rPr>
              <a:t>calendar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2D0C89B-6F0C-B5E3-7CE2-BA31E0F2DCA5}"/>
              </a:ext>
            </a:extLst>
          </p:cNvPr>
          <p:cNvSpPr/>
          <p:nvPr/>
        </p:nvSpPr>
        <p:spPr>
          <a:xfrm>
            <a:off x="7016894" y="2700865"/>
            <a:ext cx="1527303" cy="12446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collaboration and online meetings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D9B4A9-39DD-AF08-9E96-441F8539A832}"/>
              </a:ext>
            </a:extLst>
          </p:cNvPr>
          <p:cNvSpPr/>
          <p:nvPr/>
        </p:nvSpPr>
        <p:spPr>
          <a:xfrm>
            <a:off x="8751235" y="2700865"/>
            <a:ext cx="1527303" cy="12446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Cloud </a:t>
            </a:r>
            <a:r>
              <a:rPr lang="fr-FR" b="1" dirty="0" err="1">
                <a:solidFill>
                  <a:schemeClr val="tx1"/>
                </a:solidFill>
              </a:rPr>
              <a:t>storage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DAB535-D810-D719-01D3-CBAB70C5BB8D}"/>
              </a:ext>
            </a:extLst>
          </p:cNvPr>
          <p:cNvSpPr/>
          <p:nvPr/>
        </p:nvSpPr>
        <p:spPr>
          <a:xfrm>
            <a:off x="10447869" y="2700865"/>
            <a:ext cx="1527303" cy="124460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Operating system</a:t>
            </a:r>
            <a:endParaRPr lang="fr-FR" sz="1600" b="1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E9405DF-09C8-12AD-EE59-CF28E337B4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2" y="4055532"/>
            <a:ext cx="688975" cy="68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FB62B9A-6D33-4A57-5B59-D5BE33CAB8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495" y="4073001"/>
            <a:ext cx="760095" cy="724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0E937D0-EE18-CB4C-A608-A9869B851D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509" y="4113105"/>
            <a:ext cx="795655" cy="724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6BC9B78-DF58-3A64-A630-B464C61073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115" y="4168251"/>
            <a:ext cx="629285" cy="629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994F62-94CE-F4BE-6930-DA512D62BF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838" y="4055530"/>
            <a:ext cx="795655" cy="795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0FB8D5C-3647-F851-F0A7-EA28F94E714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432" y="4144348"/>
            <a:ext cx="1068916" cy="59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385A2F6-C48C-2B4F-CD44-A9402D50764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4893" y="3998578"/>
            <a:ext cx="966596" cy="966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A9E63A1-0752-D3D6-2223-33AFDAC32FCB}"/>
              </a:ext>
            </a:extLst>
          </p:cNvPr>
          <p:cNvGrpSpPr/>
          <p:nvPr/>
        </p:nvGrpSpPr>
        <p:grpSpPr>
          <a:xfrm>
            <a:off x="472260" y="282849"/>
            <a:ext cx="5322727" cy="606489"/>
            <a:chOff x="373224" y="965718"/>
            <a:chExt cx="2948474" cy="606489"/>
          </a:xfrm>
        </p:grpSpPr>
        <p:sp>
          <p:nvSpPr>
            <p:cNvPr id="33" name="Flowchart: Decision 32">
              <a:extLst>
                <a:ext uri="{FF2B5EF4-FFF2-40B4-BE49-F238E27FC236}">
                  <a16:creationId xmlns:a16="http://schemas.microsoft.com/office/drawing/2014/main" id="{1A1A95CE-CB42-2B56-69BF-D845055B7ECF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E65001A-465F-1EB3-6E51-E59E9B191BC8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Technologies Related to TIC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EFF9D8E-2F42-F3F6-F9F5-826F9C28540B}"/>
              </a:ext>
            </a:extLst>
          </p:cNvPr>
          <p:cNvGrpSpPr/>
          <p:nvPr/>
        </p:nvGrpSpPr>
        <p:grpSpPr>
          <a:xfrm>
            <a:off x="5164600" y="905358"/>
            <a:ext cx="3029893" cy="867164"/>
            <a:chOff x="4669810" y="998376"/>
            <a:chExt cx="3029893" cy="867164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4B97533-CB2B-B515-6124-25CE513FDAD3}"/>
                </a:ext>
              </a:extLst>
            </p:cNvPr>
            <p:cNvSpPr/>
            <p:nvPr/>
          </p:nvSpPr>
          <p:spPr>
            <a:xfrm>
              <a:off x="4669810" y="998376"/>
              <a:ext cx="2804010" cy="76447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674CA9E-9ECE-5293-7CC1-145563229FE1}"/>
                </a:ext>
              </a:extLst>
            </p:cNvPr>
            <p:cNvSpPr txBox="1"/>
            <p:nvPr/>
          </p:nvSpPr>
          <p:spPr>
            <a:xfrm>
              <a:off x="4787169" y="1126876"/>
              <a:ext cx="291253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4.2 Microsoft Tools</a:t>
              </a:r>
              <a:endParaRPr lang="fr-FR" sz="2400" b="1" dirty="0"/>
            </a:p>
            <a:p>
              <a:endParaRPr lang="fr-FR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EEB1232-4EE7-DFED-6E86-456A6B63377B}"/>
              </a:ext>
            </a:extLst>
          </p:cNvPr>
          <p:cNvSpPr/>
          <p:nvPr/>
        </p:nvSpPr>
        <p:spPr>
          <a:xfrm rot="13063690">
            <a:off x="2938339" y="423862"/>
            <a:ext cx="6257925" cy="6010275"/>
          </a:xfrm>
          <a:prstGeom prst="rect">
            <a:avLst/>
          </a:prstGeom>
          <a:blipFill dpi="0" rotWithShape="1">
            <a:blip r:embed="rId9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657481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" grpId="0" animBg="1"/>
      <p:bldP spid="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9F97-5EA7-36B3-F9E2-2C03B375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472E951F-97E8-6EC1-DF13-8A7C95904BAB}"/>
              </a:ext>
            </a:extLst>
          </p:cNvPr>
          <p:cNvSpPr/>
          <p:nvPr/>
        </p:nvSpPr>
        <p:spPr>
          <a:xfrm rot="5019480">
            <a:off x="9772656" y="-1256077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679F8F9-400F-C618-A773-02E3FFF4B1DF}"/>
              </a:ext>
            </a:extLst>
          </p:cNvPr>
          <p:cNvSpPr/>
          <p:nvPr/>
        </p:nvSpPr>
        <p:spPr>
          <a:xfrm rot="11646818">
            <a:off x="7890946" y="5173890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470CF01-5986-3C02-EDBD-996BCB2506AF}"/>
              </a:ext>
            </a:extLst>
          </p:cNvPr>
          <p:cNvSpPr/>
          <p:nvPr/>
        </p:nvSpPr>
        <p:spPr>
          <a:xfrm rot="13380464">
            <a:off x="-3571552" y="4174177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C1624E-C989-3502-62C7-C34ABF36A11B}"/>
              </a:ext>
            </a:extLst>
          </p:cNvPr>
          <p:cNvSpPr/>
          <p:nvPr/>
        </p:nvSpPr>
        <p:spPr>
          <a:xfrm>
            <a:off x="364663" y="1759555"/>
            <a:ext cx="5430324" cy="4933556"/>
          </a:xfrm>
          <a:prstGeom prst="roundRect">
            <a:avLst>
              <a:gd name="adj" fmla="val 8078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system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tracking changes in files (especially code)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multiple developers to work on the same project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fr-F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fr-F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Branching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merging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 of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D73BE6-087C-EDFA-AEF5-CC30D3794A07}"/>
              </a:ext>
            </a:extLst>
          </p:cNvPr>
          <p:cNvSpPr/>
          <p:nvPr/>
        </p:nvSpPr>
        <p:spPr>
          <a:xfrm>
            <a:off x="6397015" y="1736963"/>
            <a:ext cx="5430324" cy="4933556"/>
          </a:xfrm>
          <a:prstGeom prst="roundRect">
            <a:avLst>
              <a:gd name="adj" fmla="val 8078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platform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hosts Git repositories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collaboration and project sharing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uses</a:t>
            </a:r>
            <a:r>
              <a:rPr lang="fr-F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code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>
              <a:lnSpc>
                <a:spcPct val="150000"/>
              </a:lnSpc>
            </a:pPr>
            <a:r>
              <a:rPr lang="fr-F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fr-F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teamwork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software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workflow</a:t>
            </a:r>
          </a:p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20AD8F-E29D-26AA-81E7-30EE534A55F2}"/>
              </a:ext>
            </a:extLst>
          </p:cNvPr>
          <p:cNvGrpSpPr/>
          <p:nvPr/>
        </p:nvGrpSpPr>
        <p:grpSpPr>
          <a:xfrm>
            <a:off x="472260" y="282849"/>
            <a:ext cx="5322727" cy="606489"/>
            <a:chOff x="373224" y="965718"/>
            <a:chExt cx="2948474" cy="606489"/>
          </a:xfrm>
        </p:grpSpPr>
        <p:sp>
          <p:nvSpPr>
            <p:cNvPr id="11" name="Flowchart: Decision 10">
              <a:extLst>
                <a:ext uri="{FF2B5EF4-FFF2-40B4-BE49-F238E27FC236}">
                  <a16:creationId xmlns:a16="http://schemas.microsoft.com/office/drawing/2014/main" id="{9D8EA962-514F-3B3F-5DB3-FF0746545125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B0FB440-0440-03D4-6AB4-7A915D156C4A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Technologies Related to TIC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01A7370-1DBA-906A-AB33-01188E944DDA}"/>
              </a:ext>
            </a:extLst>
          </p:cNvPr>
          <p:cNvGrpSpPr/>
          <p:nvPr/>
        </p:nvGrpSpPr>
        <p:grpSpPr>
          <a:xfrm>
            <a:off x="4581053" y="1015148"/>
            <a:ext cx="3029893" cy="638507"/>
            <a:chOff x="4669810" y="998376"/>
            <a:chExt cx="3029893" cy="76447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2EF39D6-6DB3-4F8A-316B-06A31EF65813}"/>
                </a:ext>
              </a:extLst>
            </p:cNvPr>
            <p:cNvSpPr/>
            <p:nvPr/>
          </p:nvSpPr>
          <p:spPr>
            <a:xfrm>
              <a:off x="4669810" y="998376"/>
              <a:ext cx="2804010" cy="764471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A6E3592-2183-4CB6-DE75-E2763476AFAA}"/>
                </a:ext>
              </a:extLst>
            </p:cNvPr>
            <p:cNvSpPr txBox="1"/>
            <p:nvPr/>
          </p:nvSpPr>
          <p:spPr>
            <a:xfrm>
              <a:off x="4787169" y="1126876"/>
              <a:ext cx="29125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/>
                <a:t>4.3 Git and GitHub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732B3B8-7FDC-FCD0-CFC7-358E954D64F1}"/>
              </a:ext>
            </a:extLst>
          </p:cNvPr>
          <p:cNvSpPr/>
          <p:nvPr/>
        </p:nvSpPr>
        <p:spPr>
          <a:xfrm>
            <a:off x="8505687" y="1209833"/>
            <a:ext cx="1212980" cy="412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GitHub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647ADDC-FDA0-CEAF-E5B2-6970EE90E199}"/>
              </a:ext>
            </a:extLst>
          </p:cNvPr>
          <p:cNvSpPr/>
          <p:nvPr/>
        </p:nvSpPr>
        <p:spPr>
          <a:xfrm>
            <a:off x="2350270" y="1209833"/>
            <a:ext cx="1212980" cy="4126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Git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D587D10-0C0E-85D7-2718-E7BBBA7D7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825" y="4203741"/>
            <a:ext cx="2296055" cy="95944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69F4E0E-1B07-F644-DD61-B3D64829D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716" y="3962006"/>
            <a:ext cx="2994621" cy="1686161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1DCB79BD-3CFA-9565-D567-7BF9FD470B6A}"/>
              </a:ext>
            </a:extLst>
          </p:cNvPr>
          <p:cNvSpPr/>
          <p:nvPr/>
        </p:nvSpPr>
        <p:spPr>
          <a:xfrm rot="11116426">
            <a:off x="2938339" y="423862"/>
            <a:ext cx="6257925" cy="6010275"/>
          </a:xfrm>
          <a:prstGeom prst="rect">
            <a:avLst/>
          </a:prstGeom>
          <a:blipFill dpi="0" rotWithShape="1">
            <a:blip r:embed="rId4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2584539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C6389-3A87-0F16-F285-19D567CF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8183AA58-6C7F-02DA-3225-05275C866DA8}"/>
              </a:ext>
            </a:extLst>
          </p:cNvPr>
          <p:cNvSpPr/>
          <p:nvPr/>
        </p:nvSpPr>
        <p:spPr>
          <a:xfrm rot="5019480">
            <a:off x="10246085" y="-124215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356698-2B53-24AF-6792-98B092F112C3}"/>
              </a:ext>
            </a:extLst>
          </p:cNvPr>
          <p:cNvSpPr/>
          <p:nvPr/>
        </p:nvSpPr>
        <p:spPr>
          <a:xfrm rot="11646818">
            <a:off x="9643547" y="3829956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53ACCD8-78DF-B5C4-1FFB-A4296B2BE458}"/>
              </a:ext>
            </a:extLst>
          </p:cNvPr>
          <p:cNvSpPr/>
          <p:nvPr/>
        </p:nvSpPr>
        <p:spPr>
          <a:xfrm rot="13380464">
            <a:off x="-1818951" y="2830243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E21D7-E33D-4A58-E0FB-E9BF845A89DA}"/>
              </a:ext>
            </a:extLst>
          </p:cNvPr>
          <p:cNvSpPr txBox="1"/>
          <p:nvPr/>
        </p:nvSpPr>
        <p:spPr>
          <a:xfrm>
            <a:off x="728132" y="1405467"/>
            <a:ext cx="955040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courses and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classrooms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teleconferencing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documentation and data management</a:t>
            </a:r>
          </a:p>
          <a:p>
            <a:pPr marL="457200" lvl="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information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 reduces time, cost, and physical constraints.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69AFCA-D01E-675A-4E90-CBDF10A94F7F}"/>
              </a:ext>
            </a:extLst>
          </p:cNvPr>
          <p:cNvGrpSpPr/>
          <p:nvPr/>
        </p:nvGrpSpPr>
        <p:grpSpPr>
          <a:xfrm>
            <a:off x="728132" y="471084"/>
            <a:ext cx="4903626" cy="606489"/>
            <a:chOff x="373224" y="965718"/>
            <a:chExt cx="2948474" cy="606489"/>
          </a:xfrm>
        </p:grpSpPr>
        <p:sp>
          <p:nvSpPr>
            <p:cNvPr id="6" name="Flowchart: Decision 5">
              <a:extLst>
                <a:ext uri="{FF2B5EF4-FFF2-40B4-BE49-F238E27FC236}">
                  <a16:creationId xmlns:a16="http://schemas.microsoft.com/office/drawing/2014/main" id="{EA58CB1E-1B2B-F7FA-9603-5ECBC08EAE9E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0F6C059-7A8C-E330-EC51-3B65C91A66AD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TIC in Education and Work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A528497-A3E8-86CF-0B42-CAD9D35175D2}"/>
              </a:ext>
            </a:extLst>
          </p:cNvPr>
          <p:cNvSpPr/>
          <p:nvPr/>
        </p:nvSpPr>
        <p:spPr>
          <a:xfrm rot="6975454">
            <a:off x="2938339" y="423862"/>
            <a:ext cx="6257925" cy="6010275"/>
          </a:xfrm>
          <a:prstGeom prst="rect">
            <a:avLst/>
          </a:prstGeom>
          <a:blipFill dpi="0" rotWithShape="1">
            <a:blip r:embed="rId2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3759936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8D9C2-8DFC-5DA5-5945-D0F253FD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4A3B3741-7A73-1CCA-FA44-A3BC1112C975}"/>
              </a:ext>
            </a:extLst>
          </p:cNvPr>
          <p:cNvSpPr/>
          <p:nvPr/>
        </p:nvSpPr>
        <p:spPr>
          <a:xfrm rot="9799558">
            <a:off x="10295215" y="-258848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67010F-F23B-8C7A-42E1-D138EFE77AA8}"/>
              </a:ext>
            </a:extLst>
          </p:cNvPr>
          <p:cNvSpPr/>
          <p:nvPr/>
        </p:nvSpPr>
        <p:spPr>
          <a:xfrm rot="16426896">
            <a:off x="7929047" y="4024330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079C8C-965D-1823-D1B3-796D72C05388}"/>
              </a:ext>
            </a:extLst>
          </p:cNvPr>
          <p:cNvSpPr/>
          <p:nvPr/>
        </p:nvSpPr>
        <p:spPr>
          <a:xfrm rot="18160542">
            <a:off x="-2756969" y="744362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D7D5B5-0B32-6A1B-225F-B43FC95A4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999422"/>
              </p:ext>
            </p:extLst>
          </p:nvPr>
        </p:nvGraphicFramePr>
        <p:xfrm>
          <a:off x="1219200" y="1515531"/>
          <a:ext cx="9448800" cy="350564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val="3119727827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929141126"/>
                    </a:ext>
                  </a:extLst>
                </a:gridCol>
              </a:tblGrid>
              <a:tr h="882436">
                <a:tc>
                  <a:txBody>
                    <a:bodyPr/>
                    <a:lstStyle/>
                    <a:p>
                      <a:pPr algn="ctr"/>
                      <a:r>
                        <a:rPr lang="en-US" sz="3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Challenges</a:t>
                      </a:r>
                      <a:endParaRPr lang="fr-FR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767265"/>
                  </a:ext>
                </a:extLst>
              </a:tr>
              <a:tr h="2623209"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Fast communication</a:t>
                      </a:r>
                    </a:p>
                    <a:p>
                      <a:pPr marL="342900" lvl="0" indent="-342900" rtl="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Global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connectivity</a:t>
                      </a:r>
                      <a:endParaRPr lang="fr-FR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rtl="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Easy</a:t>
                      </a: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access</a:t>
                      </a: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to information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Automation of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tasks</a:t>
                      </a:r>
                      <a:endParaRPr lang="fr-FR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rtl="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Cybersecurity</a:t>
                      </a: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risks</a:t>
                      </a:r>
                      <a:endParaRPr lang="fr-FR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rtl="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privacy</a:t>
                      </a: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issues</a:t>
                      </a:r>
                    </a:p>
                    <a:p>
                      <a:pPr marL="342900" lvl="0" indent="-342900" rtl="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Digital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divide</a:t>
                      </a: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unequal</a:t>
                      </a: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access</a:t>
                      </a: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q"/>
                      </a:pP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Dependence</a:t>
                      </a:r>
                      <a:r>
                        <a:rPr lang="fr-FR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on </a:t>
                      </a:r>
                      <a:r>
                        <a:rPr lang="fr-FR" sz="2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technology</a:t>
                      </a:r>
                      <a:endParaRPr lang="fr-FR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3338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D23D6E64-20B9-3F2E-906E-29920C1BAC76}"/>
              </a:ext>
            </a:extLst>
          </p:cNvPr>
          <p:cNvGrpSpPr/>
          <p:nvPr/>
        </p:nvGrpSpPr>
        <p:grpSpPr>
          <a:xfrm>
            <a:off x="682105" y="303021"/>
            <a:ext cx="4577751" cy="606489"/>
            <a:chOff x="373224" y="965718"/>
            <a:chExt cx="2948474" cy="606489"/>
          </a:xfrm>
        </p:grpSpPr>
        <p:sp>
          <p:nvSpPr>
            <p:cNvPr id="6" name="Flowchart: Decision 5">
              <a:extLst>
                <a:ext uri="{FF2B5EF4-FFF2-40B4-BE49-F238E27FC236}">
                  <a16:creationId xmlns:a16="http://schemas.microsoft.com/office/drawing/2014/main" id="{1961C7D1-16B6-8D45-9650-CC58CB7584F1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7B5FE49-AC0C-5F0E-0EF6-E0695D779C41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6. Advantages and Challenges of TIC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4948635-A7D5-5FEF-2E0C-F3DFD1082321}"/>
              </a:ext>
            </a:extLst>
          </p:cNvPr>
          <p:cNvSpPr/>
          <p:nvPr/>
        </p:nvSpPr>
        <p:spPr>
          <a:xfrm rot="5400000">
            <a:off x="2938339" y="423862"/>
            <a:ext cx="6257925" cy="6010275"/>
          </a:xfrm>
          <a:prstGeom prst="rect">
            <a:avLst/>
          </a:prstGeom>
          <a:blipFill dpi="0" rotWithShape="1">
            <a:blip r:embed="rId2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11636379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2F41-AF4D-8E74-E484-3AD3A1783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39AB45D-60B3-702A-BFFC-30CBF758B4EF}"/>
              </a:ext>
            </a:extLst>
          </p:cNvPr>
          <p:cNvSpPr/>
          <p:nvPr/>
        </p:nvSpPr>
        <p:spPr>
          <a:xfrm rot="9799558">
            <a:off x="10446640" y="-509200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6DB719-287F-06F7-3C63-BEA682F10C65}"/>
              </a:ext>
            </a:extLst>
          </p:cNvPr>
          <p:cNvSpPr/>
          <p:nvPr/>
        </p:nvSpPr>
        <p:spPr>
          <a:xfrm rot="16426896">
            <a:off x="9268129" y="3158044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16C4EC9-7CF6-18B6-C094-3AFF7A2EB742}"/>
              </a:ext>
            </a:extLst>
          </p:cNvPr>
          <p:cNvSpPr/>
          <p:nvPr/>
        </p:nvSpPr>
        <p:spPr>
          <a:xfrm rot="18160542">
            <a:off x="-1926897" y="3325991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6B9321-E2F5-909D-10CF-3D47E3219C2C}"/>
              </a:ext>
            </a:extLst>
          </p:cNvPr>
          <p:cNvSpPr/>
          <p:nvPr/>
        </p:nvSpPr>
        <p:spPr>
          <a:xfrm>
            <a:off x="1211424" y="1166325"/>
            <a:ext cx="9769151" cy="4693299"/>
          </a:xfrm>
          <a:prstGeom prst="roundRect">
            <a:avLst>
              <a:gd name="adj" fmla="val 4201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Information and Communication Technologies are fundamental in modern society. Tools such as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services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applications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Git/GitHub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transformed how people learn, work, and collaborate. Mastering TIC is essential for academic success and professional development in the digital age.</a:t>
            </a:r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46CD08-B125-B1D8-230C-ABF5143F3FB8}"/>
              </a:ext>
            </a:extLst>
          </p:cNvPr>
          <p:cNvGrpSpPr/>
          <p:nvPr/>
        </p:nvGrpSpPr>
        <p:grpSpPr>
          <a:xfrm>
            <a:off x="626122" y="278536"/>
            <a:ext cx="3474876" cy="606489"/>
            <a:chOff x="373224" y="965718"/>
            <a:chExt cx="2948474" cy="60648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B470B35-1EB7-1F99-DE23-FD14B2385AD9}"/>
                </a:ext>
              </a:extLst>
            </p:cNvPr>
            <p:cNvSpPr/>
            <p:nvPr/>
          </p:nvSpPr>
          <p:spPr>
            <a:xfrm>
              <a:off x="373224" y="989045"/>
              <a:ext cx="2752531" cy="559837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7. Conclusion</a:t>
              </a:r>
              <a:endPara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6A6BB53F-CEFF-1B64-C28A-42E495A06D89}"/>
                </a:ext>
              </a:extLst>
            </p:cNvPr>
            <p:cNvSpPr/>
            <p:nvPr/>
          </p:nvSpPr>
          <p:spPr>
            <a:xfrm>
              <a:off x="2565919" y="965718"/>
              <a:ext cx="755779" cy="606489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2D3AACE-AC08-89D4-61A5-A51B8A7B5DA9}"/>
              </a:ext>
            </a:extLst>
          </p:cNvPr>
          <p:cNvSpPr/>
          <p:nvPr/>
        </p:nvSpPr>
        <p:spPr>
          <a:xfrm>
            <a:off x="2938339" y="423862"/>
            <a:ext cx="6257925" cy="6010275"/>
          </a:xfrm>
          <a:prstGeom prst="rect">
            <a:avLst/>
          </a:prstGeom>
          <a:blipFill dpi="0" rotWithShape="1">
            <a:blip r:embed="rId2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6290422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399A-36FC-D304-2F20-6CF13567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CED8AE61-F8A9-0C63-5D92-BB450799A1C2}"/>
              </a:ext>
            </a:extLst>
          </p:cNvPr>
          <p:cNvSpPr/>
          <p:nvPr/>
        </p:nvSpPr>
        <p:spPr>
          <a:xfrm rot="13661731">
            <a:off x="10446640" y="-509200"/>
            <a:ext cx="2584580" cy="22020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076EF0-A8CF-CA47-A091-7D7032CA3C12}"/>
              </a:ext>
            </a:extLst>
          </p:cNvPr>
          <p:cNvSpPr/>
          <p:nvPr/>
        </p:nvSpPr>
        <p:spPr>
          <a:xfrm rot="20289069">
            <a:off x="8376567" y="4709623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82C0DD-3009-8A2C-31D9-0E681DC568D3}"/>
              </a:ext>
            </a:extLst>
          </p:cNvPr>
          <p:cNvSpPr/>
          <p:nvPr/>
        </p:nvSpPr>
        <p:spPr>
          <a:xfrm rot="422715">
            <a:off x="-1774498" y="-1367306"/>
            <a:ext cx="4480704" cy="50672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4E9D6F-8AF0-DDED-85C3-411A15CDF31E}"/>
              </a:ext>
            </a:extLst>
          </p:cNvPr>
          <p:cNvSpPr/>
          <p:nvPr/>
        </p:nvSpPr>
        <p:spPr>
          <a:xfrm>
            <a:off x="1211424" y="1166325"/>
            <a:ext cx="9769151" cy="4693299"/>
          </a:xfrm>
          <a:prstGeom prst="roundRect">
            <a:avLst>
              <a:gd name="adj" fmla="val 4201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accent5">
                    <a:lumMod val="50000"/>
                  </a:schemeClr>
                </a:solidFill>
              </a:rPr>
              <a:t>Thank you for your attention</a:t>
            </a:r>
            <a:endParaRPr lang="fr-FR" sz="72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328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550</Words>
  <Application>Microsoft Office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ferhat</dc:creator>
  <cp:lastModifiedBy>omar ferhat</cp:lastModifiedBy>
  <cp:revision>3</cp:revision>
  <dcterms:created xsi:type="dcterms:W3CDTF">2025-12-28T11:31:42Z</dcterms:created>
  <dcterms:modified xsi:type="dcterms:W3CDTF">2025-12-28T21:13:04Z</dcterms:modified>
</cp:coreProperties>
</file>